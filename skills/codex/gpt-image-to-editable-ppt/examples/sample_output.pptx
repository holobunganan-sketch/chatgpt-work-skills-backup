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L|cover_title|text|normal"/>
          <p:cNvSpPr txBox="1"/>
          <p:nvPr/>
        </p:nvSpPr>
        <p:spPr>
          <a:xfrm>
            <a:off x="822960" y="1600200"/>
            <a:ext cx="6949440" cy="1188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34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AI生成可编辑PPT的方法</a:t>
            </a:r>
          </a:p>
        </p:txBody>
      </p:sp>
      <p:sp>
        <p:nvSpPr>
          <p:cNvPr id="3" name="EL|cover_subtitle|text|normal"/>
          <p:cNvSpPr txBox="1"/>
          <p:nvPr/>
        </p:nvSpPr>
        <p:spPr>
          <a:xfrm>
            <a:off x="841248" y="2907792"/>
            <a:ext cx="621792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结构化页面蓝图 × GPT Image视觉资产 × 原生PowerPoint对象</a:t>
            </a:r>
          </a:p>
        </p:txBody>
      </p:sp>
      <p:sp>
        <p:nvSpPr>
          <p:cNvPr id="4" name="EL|cover_visual|shape|normal"/>
          <p:cNvSpPr/>
          <p:nvPr/>
        </p:nvSpPr>
        <p:spPr>
          <a:xfrm>
            <a:off x="8001000" y="1234440"/>
            <a:ext cx="3246120" cy="4114800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50000"/>
              </a:lnSpc>
            </a:pPr>
            <a:r>
              <a:rPr sz="24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视觉参考</a:t>
            </a:r>
          </a:p>
          <a:p>
            <a:pPr algn="ctr">
              <a:lnSpc>
                <a:spcPct val="150000"/>
              </a:lnSpc>
            </a:pPr>
            <a:r>
              <a:rPr sz="24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ctr">
              <a:lnSpc>
                <a:spcPct val="150000"/>
              </a:lnSpc>
            </a:pPr>
            <a:r>
              <a:rPr sz="24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  <a:p>
            <a:pPr algn="ctr">
              <a:lnSpc>
                <a:spcPct val="150000"/>
              </a:lnSpc>
            </a:pPr>
            <a:r>
              <a:rPr sz="24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ctr">
              <a:lnSpc>
                <a:spcPct val="150000"/>
              </a:lnSpc>
            </a:pPr>
            <a:r>
              <a:rPr sz="24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原生重建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_TITLE"/>
          <p:cNvSpPr txBox="1"/>
          <p:nvPr/>
        </p:nvSpPr>
        <p:spPr>
          <a:xfrm>
            <a:off x="594360" y="310896"/>
            <a:ext cx="11000232" cy="47548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可靠工作流以结构化页面蓝图为中心</a:t>
            </a:r>
          </a:p>
        </p:txBody>
      </p:sp>
      <p:cxnSp>
        <p:nvCxnSpPr>
          <p:cNvPr id="3" name="PAGE_DIVIDER"/>
          <p:cNvCxnSpPr/>
          <p:nvPr/>
        </p:nvCxnSpPr>
        <p:spPr>
          <a:xfrm>
            <a:off x="594360" y="1024128"/>
            <a:ext cx="11000232" cy="0"/>
          </a:xfrm>
          <a:prstGeom prst="line">
            <a:avLst/>
          </a:prstGeom>
          <a:ln w="19050">
            <a:solidFill>
              <a:srgbClr val="2F6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|step1|shape|normal"/>
          <p:cNvSpPr/>
          <p:nvPr/>
        </p:nvSpPr>
        <p:spPr>
          <a:xfrm>
            <a:off x="685800" y="1417320"/>
            <a:ext cx="2514600" cy="4526280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50000"/>
              </a:lnSpc>
            </a:pPr>
            <a:r>
              <a:rPr sz="18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  <a:p>
            <a:pPr algn="ctr">
              <a:lnSpc>
                <a:spcPct val="150000"/>
              </a:lnSpc>
            </a:pPr>
            <a:r>
              <a:rPr sz="18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结构化大纲</a:t>
            </a:r>
          </a:p>
          <a:p>
            <a:pPr algn="ctr">
              <a:lnSpc>
                <a:spcPct val="150000"/>
              </a:lnSpc>
            </a:pPr>
            <a:r>
              <a:rPr sz="18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ctr">
              <a:lnSpc>
                <a:spcPct val="150000"/>
              </a:lnSpc>
            </a:pPr>
            <a:r>
              <a:rPr sz="18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  <a:p>
            <a:pPr algn="ctr">
              <a:lnSpc>
                <a:spcPct val="150000"/>
              </a:lnSpc>
            </a:pPr>
            <a:r>
              <a:rPr sz="18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逻辑类型</a:t>
            </a:r>
          </a:p>
          <a:p>
            <a:pPr algn="ctr">
              <a:lnSpc>
                <a:spcPct val="150000"/>
              </a:lnSpc>
            </a:pPr>
            <a:r>
              <a:rPr sz="18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元素坐标</a:t>
            </a:r>
          </a:p>
        </p:txBody>
      </p:sp>
      <p:cxnSp>
        <p:nvCxnSpPr>
          <p:cNvPr id="5" name="EL|arrow1|line|overlap"/>
          <p:cNvCxnSpPr/>
          <p:nvPr/>
        </p:nvCxnSpPr>
        <p:spPr>
          <a:xfrm>
            <a:off x="3218688" y="3675887"/>
            <a:ext cx="320040" cy="0"/>
          </a:xfrm>
          <a:prstGeom prst="line">
            <a:avLst/>
          </a:prstGeom>
          <a:ln w="25400">
            <a:solidFill>
              <a:srgbClr val="2F6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|step2|shape|normal"/>
          <p:cNvSpPr/>
          <p:nvPr/>
        </p:nvSpPr>
        <p:spPr>
          <a:xfrm>
            <a:off x="3566160" y="1417320"/>
            <a:ext cx="2514600" cy="4526280"/>
          </a:xfrm>
          <a:prstGeom prst="roundRect">
            <a:avLst/>
          </a:prstGeom>
          <a:solidFill>
            <a:srgbClr val="E2F1EC"/>
          </a:solidFill>
          <a:ln w="12700">
            <a:solidFill>
              <a:srgbClr val="4F8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50000"/>
              </a:lnSpc>
            </a:pPr>
            <a:r>
              <a:rPr sz="18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  <a:p>
            <a:pPr algn="ctr">
              <a:lnSpc>
                <a:spcPct val="150000"/>
              </a:lnSpc>
            </a:pPr>
            <a:r>
              <a:rPr sz="18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GPT Image</a:t>
            </a:r>
          </a:p>
          <a:p>
            <a:pPr algn="ctr">
              <a:lnSpc>
                <a:spcPct val="150000"/>
              </a:lnSpc>
            </a:pPr>
            <a:r>
              <a:rPr sz="18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ctr">
              <a:lnSpc>
                <a:spcPct val="150000"/>
              </a:lnSpc>
            </a:pPr>
            <a:r>
              <a:rPr sz="18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构图参考</a:t>
            </a:r>
          </a:p>
          <a:p>
            <a:pPr algn="ctr">
              <a:lnSpc>
                <a:spcPct val="150000"/>
              </a:lnSpc>
            </a:pPr>
            <a:r>
              <a:rPr sz="18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独立插图</a:t>
            </a:r>
          </a:p>
          <a:p>
            <a:pPr algn="ctr">
              <a:lnSpc>
                <a:spcPct val="150000"/>
              </a:lnSpc>
            </a:pPr>
            <a:r>
              <a:rPr sz="18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透明素材</a:t>
            </a:r>
          </a:p>
        </p:txBody>
      </p:sp>
      <p:cxnSp>
        <p:nvCxnSpPr>
          <p:cNvPr id="7" name="EL|arrow2|line|overlap"/>
          <p:cNvCxnSpPr/>
          <p:nvPr/>
        </p:nvCxnSpPr>
        <p:spPr>
          <a:xfrm>
            <a:off x="6099048" y="3675887"/>
            <a:ext cx="320040" cy="0"/>
          </a:xfrm>
          <a:prstGeom prst="line">
            <a:avLst/>
          </a:prstGeom>
          <a:ln w="25400">
            <a:solidFill>
              <a:srgbClr val="4F8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|step3|shape|normal"/>
          <p:cNvSpPr/>
          <p:nvPr/>
        </p:nvSpPr>
        <p:spPr>
          <a:xfrm>
            <a:off x="6446520" y="1417320"/>
            <a:ext cx="2514600" cy="4526280"/>
          </a:xfrm>
          <a:prstGeom prst="roundRect">
            <a:avLst/>
          </a:prstGeom>
          <a:solidFill>
            <a:srgbClr val="F7EDCF"/>
          </a:solidFill>
          <a:ln w="12700">
            <a:solidFill>
              <a:srgbClr val="D29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50000"/>
              </a:lnSpc>
            </a:pPr>
            <a:r>
              <a:rPr sz="18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  <a:p>
            <a:pPr algn="ctr">
              <a:lnSpc>
                <a:spcPct val="150000"/>
              </a:lnSpc>
            </a:pPr>
            <a:r>
              <a:rPr sz="18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PPT原生构建</a:t>
            </a:r>
          </a:p>
          <a:p>
            <a:pPr algn="ctr">
              <a:lnSpc>
                <a:spcPct val="150000"/>
              </a:lnSpc>
            </a:pPr>
            <a:r>
              <a:rPr sz="18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ctr">
              <a:lnSpc>
                <a:spcPct val="150000"/>
              </a:lnSpc>
            </a:pPr>
            <a:r>
              <a:rPr sz="18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文字</a:t>
            </a:r>
          </a:p>
          <a:p>
            <a:pPr algn="ctr">
              <a:lnSpc>
                <a:spcPct val="150000"/>
              </a:lnSpc>
            </a:pPr>
            <a:r>
              <a:rPr sz="18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图形</a:t>
            </a:r>
          </a:p>
          <a:p>
            <a:pPr algn="ctr">
              <a:lnSpc>
                <a:spcPct val="150000"/>
              </a:lnSpc>
            </a:pPr>
            <a:r>
              <a:rPr sz="18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图表与表格</a:t>
            </a:r>
          </a:p>
        </p:txBody>
      </p:sp>
      <p:cxnSp>
        <p:nvCxnSpPr>
          <p:cNvPr id="9" name="EL|arrow3|line|overlap"/>
          <p:cNvCxnSpPr/>
          <p:nvPr/>
        </p:nvCxnSpPr>
        <p:spPr>
          <a:xfrm>
            <a:off x="8979408" y="3675887"/>
            <a:ext cx="320040" cy="0"/>
          </a:xfrm>
          <a:prstGeom prst="line">
            <a:avLst/>
          </a:prstGeom>
          <a:ln w="25400">
            <a:solidFill>
              <a:srgbClr val="D29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|step4|shape|normal"/>
          <p:cNvSpPr/>
          <p:nvPr/>
        </p:nvSpPr>
        <p:spPr>
          <a:xfrm>
            <a:off x="9326880" y="1417320"/>
            <a:ext cx="2148840" cy="4526280"/>
          </a:xfrm>
          <a:prstGeom prst="roundRect">
            <a:avLst/>
          </a:prstGeom>
          <a:solidFill>
            <a:srgbClr val="F7E2E2"/>
          </a:solidFill>
          <a:ln w="12700">
            <a:solidFill>
              <a:srgbClr val="C6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50000"/>
              </a:lnSpc>
            </a:pPr>
            <a:r>
              <a:rPr sz="17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  <a:p>
            <a:pPr algn="ctr">
              <a:lnSpc>
                <a:spcPct val="150000"/>
              </a:lnSpc>
            </a:pPr>
            <a:r>
              <a:rPr sz="17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  <a:p>
            <a:pPr algn="ctr">
              <a:lnSpc>
                <a:spcPct val="150000"/>
              </a:lnSpc>
            </a:pPr>
            <a:r>
              <a:rPr sz="17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ctr">
              <a:lnSpc>
                <a:spcPct val="150000"/>
              </a:lnSpc>
            </a:pPr>
            <a:r>
              <a:rPr sz="17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渲染</a:t>
            </a:r>
          </a:p>
          <a:p>
            <a:pPr algn="ctr">
              <a:lnSpc>
                <a:spcPct val="150000"/>
              </a:lnSpc>
            </a:pPr>
            <a:r>
              <a:rPr sz="17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修复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_TITLE"/>
          <p:cNvSpPr txBox="1"/>
          <p:nvPr/>
        </p:nvSpPr>
        <p:spPr>
          <a:xfrm>
            <a:off x="594360" y="310896"/>
            <a:ext cx="11000232" cy="47548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视觉还原与可编辑性需要分别管理</a:t>
            </a:r>
          </a:p>
        </p:txBody>
      </p:sp>
      <p:cxnSp>
        <p:nvCxnSpPr>
          <p:cNvPr id="3" name="PAGE_DIVIDER"/>
          <p:cNvCxnSpPr/>
          <p:nvPr/>
        </p:nvCxnSpPr>
        <p:spPr>
          <a:xfrm>
            <a:off x="594360" y="1024128"/>
            <a:ext cx="11000232" cy="0"/>
          </a:xfrm>
          <a:prstGeom prst="line">
            <a:avLst/>
          </a:prstGeom>
          <a:ln w="19050">
            <a:solidFill>
              <a:srgbClr val="2F6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|left|shape|normal"/>
          <p:cNvSpPr/>
          <p:nvPr/>
        </p:nvSpPr>
        <p:spPr>
          <a:xfrm>
            <a:off x="731520" y="1508760"/>
            <a:ext cx="5257800" cy="4434840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73152" tIns="36576" bIns="36576"/>
          <a:lstStyle/>
          <a:p>
            <a:pPr algn="l">
              <a:lnSpc>
                <a:spcPct val="150000"/>
              </a:lnSpc>
            </a:pPr>
            <a:r>
              <a:rPr sz="20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GPT Image负责</a:t>
            </a:r>
          </a:p>
          <a:p>
            <a:pPr algn="l">
              <a:lnSpc>
                <a:spcPct val="150000"/>
              </a:lnSpc>
            </a:pPr>
            <a:r>
              <a:rPr sz="20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20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场景与人物</a:t>
            </a:r>
          </a:p>
          <a:p>
            <a:pPr algn="l">
              <a:lnSpc>
                <a:spcPct val="150000"/>
              </a:lnSpc>
            </a:pPr>
            <a:r>
              <a:rPr sz="20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概念插图</a:t>
            </a:r>
          </a:p>
          <a:p>
            <a:pPr algn="l">
              <a:lnSpc>
                <a:spcPct val="150000"/>
              </a:lnSpc>
            </a:pPr>
            <a:r>
              <a:rPr sz="20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纹理与氛围</a:t>
            </a:r>
          </a:p>
          <a:p>
            <a:pPr algn="l">
              <a:lnSpc>
                <a:spcPct val="150000"/>
              </a:lnSpc>
            </a:pPr>
            <a:r>
              <a:rPr sz="20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复杂艺术构图</a:t>
            </a:r>
          </a:p>
        </p:txBody>
      </p:sp>
      <p:sp>
        <p:nvSpPr>
          <p:cNvPr id="5" name="EL|right|shape|normal"/>
          <p:cNvSpPr/>
          <p:nvPr/>
        </p:nvSpPr>
        <p:spPr>
          <a:xfrm>
            <a:off x="6199632" y="1508760"/>
            <a:ext cx="5257800" cy="4434840"/>
          </a:xfrm>
          <a:prstGeom prst="roundRect">
            <a:avLst/>
          </a:prstGeom>
          <a:solidFill>
            <a:srgbClr val="E2F1EC"/>
          </a:solidFill>
          <a:ln w="12700">
            <a:solidFill>
              <a:srgbClr val="4F8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73152" tIns="36576" bIns="36576"/>
          <a:lstStyle/>
          <a:p>
            <a:pPr algn="l">
              <a:lnSpc>
                <a:spcPct val="150000"/>
              </a:lnSpc>
            </a:pPr>
            <a:r>
              <a:rPr sz="20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PowerPoint原生对象负责</a:t>
            </a:r>
          </a:p>
          <a:p>
            <a:pPr algn="l">
              <a:lnSpc>
                <a:spcPct val="150000"/>
              </a:lnSpc>
            </a:pPr>
            <a:r>
              <a:rPr sz="20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20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标题与正文</a:t>
            </a:r>
          </a:p>
          <a:p>
            <a:pPr algn="l">
              <a:lnSpc>
                <a:spcPct val="150000"/>
              </a:lnSpc>
            </a:pPr>
            <a:r>
              <a:rPr sz="20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流程与架构</a:t>
            </a:r>
          </a:p>
          <a:p>
            <a:pPr algn="l">
              <a:lnSpc>
                <a:spcPct val="150000"/>
              </a:lnSpc>
            </a:pPr>
            <a:r>
              <a:rPr sz="20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表格与图表</a:t>
            </a:r>
          </a:p>
          <a:p>
            <a:pPr algn="l">
              <a:lnSpc>
                <a:spcPct val="150000"/>
              </a:lnSpc>
            </a:pPr>
            <a:r>
              <a:rPr sz="20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数据、标签与引用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L|closing_text|text|normal"/>
          <p:cNvSpPr txBox="1"/>
          <p:nvPr/>
        </p:nvSpPr>
        <p:spPr>
          <a:xfrm>
            <a:off x="1097280" y="1920240"/>
            <a:ext cx="9966960" cy="11887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000" b="1" a: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视觉由图像增强，结构由原生对象承载</a:t>
            </a:r>
          </a:p>
        </p:txBody>
      </p:sp>
      <p:cxnSp>
        <p:nvCxnSpPr>
          <p:cNvPr id="3" name="EL|closing_line|line|overlap"/>
          <p:cNvCxnSpPr/>
          <p:nvPr/>
        </p:nvCxnSpPr>
        <p:spPr>
          <a:xfrm>
            <a:off x="4023360" y="3657600"/>
            <a:ext cx="4160519" cy="0"/>
          </a:xfrm>
          <a:prstGeom prst="line">
            <a:avLst/>
          </a:prstGeom>
          <a:ln w="31750">
            <a:solidFill>
              <a:srgbClr val="2F6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